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6" r:id="rId11"/>
    <p:sldId id="267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46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85798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38160" y="0"/>
            <a:ext cx="4050792" cy="6858000"/>
          </a:xfrm>
          <a:prstGeom prst="rect">
            <a:avLst/>
          </a:prstGeom>
          <a:solidFill>
            <a:srgbClr val="132C4F"/>
          </a:solidFill>
          <a:ln/>
        </p:spPr>
      </p:sp>
      <p:sp>
        <p:nvSpPr>
          <p:cNvPr id="3" name="Shape 1"/>
          <p:cNvSpPr/>
          <p:nvPr/>
        </p:nvSpPr>
        <p:spPr>
          <a:xfrm>
            <a:off x="8503920" y="822960"/>
            <a:ext cx="3291840" cy="0"/>
          </a:xfrm>
          <a:prstGeom prst="line">
            <a:avLst/>
          </a:prstGeom>
          <a:noFill/>
          <a:ln w="19050">
            <a:solidFill>
              <a:srgbClr val="25436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366760" y="777240"/>
            <a:ext cx="91440" cy="91440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5" name="Shape 3"/>
          <p:cNvSpPr/>
          <p:nvPr/>
        </p:nvSpPr>
        <p:spPr>
          <a:xfrm>
            <a:off x="8503920" y="1965960"/>
            <a:ext cx="3291840" cy="0"/>
          </a:xfrm>
          <a:prstGeom prst="line">
            <a:avLst/>
          </a:prstGeom>
          <a:noFill/>
          <a:ln w="19050">
            <a:solidFill>
              <a:srgbClr val="25436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75720" y="1920240"/>
            <a:ext cx="91440" cy="91440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7" name="Shape 5"/>
          <p:cNvSpPr/>
          <p:nvPr/>
        </p:nvSpPr>
        <p:spPr>
          <a:xfrm>
            <a:off x="8503920" y="3108960"/>
            <a:ext cx="3291840" cy="0"/>
          </a:xfrm>
          <a:prstGeom prst="line">
            <a:avLst/>
          </a:prstGeom>
          <a:noFill/>
          <a:ln w="19050">
            <a:solidFill>
              <a:srgbClr val="25436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366760" y="3063240"/>
            <a:ext cx="91440" cy="91440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9" name="Shape 7"/>
          <p:cNvSpPr/>
          <p:nvPr/>
        </p:nvSpPr>
        <p:spPr>
          <a:xfrm>
            <a:off x="8503920" y="4251960"/>
            <a:ext cx="3291840" cy="0"/>
          </a:xfrm>
          <a:prstGeom prst="line">
            <a:avLst/>
          </a:prstGeom>
          <a:noFill/>
          <a:ln w="19050">
            <a:solidFill>
              <a:srgbClr val="25436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475720" y="4206240"/>
            <a:ext cx="91440" cy="91440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11" name="Shape 9"/>
          <p:cNvSpPr/>
          <p:nvPr/>
        </p:nvSpPr>
        <p:spPr>
          <a:xfrm>
            <a:off x="8503920" y="5394960"/>
            <a:ext cx="3291840" cy="0"/>
          </a:xfrm>
          <a:prstGeom prst="line">
            <a:avLst/>
          </a:prstGeom>
          <a:noFill/>
          <a:ln w="19050">
            <a:solidFill>
              <a:srgbClr val="25436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366760" y="5349240"/>
            <a:ext cx="91440" cy="91440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13" name="Shape 11"/>
          <p:cNvSpPr/>
          <p:nvPr/>
        </p:nvSpPr>
        <p:spPr>
          <a:xfrm>
            <a:off x="9464040" y="2651760"/>
            <a:ext cx="1554480" cy="1554480"/>
          </a:xfrm>
          <a:prstGeom prst="ellipse">
            <a:avLst/>
          </a:prstGeom>
          <a:solidFill>
            <a:srgbClr val="1B3A63"/>
          </a:solidFill>
          <a:ln/>
        </p:spPr>
      </p:sp>
      <p:pic>
        <p:nvPicPr>
          <p:cNvPr id="14" name="Image 0" descr="/home/claude/ddca_ppt/icons/lock_cy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13798" y="3001518"/>
            <a:ext cx="854964" cy="854964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731520" y="137160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DDCA GROUP PROJECT  ·  TEAM 07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85800" y="1828800"/>
            <a:ext cx="73152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Digital Door Access</a:t>
            </a:r>
            <a:endParaRPr lang="en-US" sz="42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Using</a:t>
            </a:r>
            <a:endParaRPr lang="en-US" sz="42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Combination Logic</a:t>
            </a:r>
            <a:endParaRPr lang="en-US" sz="4200" dirty="0"/>
          </a:p>
        </p:txBody>
      </p:sp>
      <p:sp>
        <p:nvSpPr>
          <p:cNvPr id="17" name="Shape 14"/>
          <p:cNvSpPr/>
          <p:nvPr/>
        </p:nvSpPr>
        <p:spPr>
          <a:xfrm>
            <a:off x="731520" y="4434840"/>
            <a:ext cx="502920" cy="54864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8" name="Text 15"/>
          <p:cNvSpPr/>
          <p:nvPr/>
        </p:nvSpPr>
        <p:spPr>
          <a:xfrm>
            <a:off x="731520" y="4617720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B9C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combinational-logic based electronic lock that verifies an access code and grants entry without any mechanical key.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731520" y="55321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731520" y="5833872"/>
            <a:ext cx="7223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Manideep   ·   Aarush   ·   Hansika   ·   Neelagreeva   ·   Swarajith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Digital Door Access System?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649224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020824"/>
            <a:ext cx="91440" cy="91440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1892808"/>
            <a:ext cx="58064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electronic lock that replaces a conventional mechanical key with a secret access code entered on a keypad or switch bank.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914400" y="3054096"/>
            <a:ext cx="91440" cy="91440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2926080"/>
            <a:ext cx="58064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heart of the system is a combinational logic circuit — it has no memory of past inputs; the output depends only on the code present at that instant.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914400" y="4087368"/>
            <a:ext cx="91440" cy="91440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3959352"/>
            <a:ext cx="58064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bit of the entered code is compared against a pre-set reference code using logic gates such NOT </a:t>
            </a:r>
            <a:r>
              <a:rPr lang="en-US" sz="135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&amp; AND Gate, </a:t>
            </a:r>
            <a:r>
              <a:rPr lang="en-US" sz="1350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the results are combined with an AND gate.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914400" y="5120640"/>
            <a:ext cx="91440" cy="91440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12" name="Text 10"/>
          <p:cNvSpPr/>
          <p:nvPr/>
        </p:nvSpPr>
        <p:spPr>
          <a:xfrm>
            <a:off x="1143000" y="4992624"/>
            <a:ext cx="58064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— and only if — every bit matches, the circuit produces a single "Access Granted" signal that drives the door-unlocking mechanism.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7452360" y="1691640"/>
            <a:ext cx="4114800" cy="4297680"/>
          </a:xfrm>
          <a:prstGeom prst="roundRect">
            <a:avLst>
              <a:gd name="adj" fmla="val 2667"/>
            </a:avLst>
          </a:prstGeom>
          <a:solidFill>
            <a:srgbClr val="0B1D3A"/>
          </a:solidFill>
          <a:ln/>
        </p:spPr>
      </p:sp>
      <p:sp>
        <p:nvSpPr>
          <p:cNvPr id="14" name="Shape 12"/>
          <p:cNvSpPr/>
          <p:nvPr/>
        </p:nvSpPr>
        <p:spPr>
          <a:xfrm>
            <a:off x="8915400" y="2148840"/>
            <a:ext cx="1188720" cy="1188720"/>
          </a:xfrm>
          <a:prstGeom prst="ellipse">
            <a:avLst/>
          </a:prstGeom>
          <a:solidFill>
            <a:srgbClr val="1B3A63"/>
          </a:solidFill>
          <a:ln/>
        </p:spPr>
      </p:sp>
      <p:pic>
        <p:nvPicPr>
          <p:cNvPr id="15" name="Image 0" descr="/home/claude/ddca_ppt/icons/keyboard_cy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2862" y="2416302"/>
            <a:ext cx="653796" cy="653796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7680960" y="35204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 → Logic → Action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7680960" y="393192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B9C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Keypad code  →  gate-level comparison  →  relay-driven unlock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7818120" y="4892040"/>
            <a:ext cx="3383280" cy="0"/>
          </a:xfrm>
          <a:prstGeom prst="line">
            <a:avLst/>
          </a:prstGeom>
          <a:noFill/>
          <a:ln w="12700">
            <a:solidFill>
              <a:srgbClr val="25436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680960" y="502920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microcontroller required for the core comparison — pure digital logic gates do the job.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9AA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DDCA · TEAM 7 · DIGITAL DOOR ACCESS SYSTEM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Move Away from Mechanical Locks?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529584" cy="283464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D8E1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993392" y="2057400"/>
            <a:ext cx="822960" cy="822960"/>
          </a:xfrm>
          <a:prstGeom prst="ellipse">
            <a:avLst/>
          </a:prstGeom>
          <a:solidFill>
            <a:srgbClr val="0B1D3A"/>
          </a:solidFill>
          <a:ln/>
        </p:spPr>
      </p:sp>
      <p:pic>
        <p:nvPicPr>
          <p:cNvPr id="6" name="Image 0" descr="/home/claude/ddca_ppt/icons/warning_cy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0902" y="2254910"/>
            <a:ext cx="427939" cy="42793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3063240"/>
            <a:ext cx="30723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Keys Get Lost or Copied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914400" y="3566160"/>
            <a:ext cx="298094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keys can be misplaced, stolen, or duplicated without the owner's knowledge, creating a lasting security gap.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425696" y="1783080"/>
            <a:ext cx="3529584" cy="283464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D8E1E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779008" y="2057400"/>
            <a:ext cx="822960" cy="822960"/>
          </a:xfrm>
          <a:prstGeom prst="ellipse">
            <a:avLst/>
          </a:prstGeom>
          <a:solidFill>
            <a:srgbClr val="0B1D3A"/>
          </a:solidFill>
          <a:ln/>
        </p:spPr>
      </p:sp>
      <p:pic>
        <p:nvPicPr>
          <p:cNvPr id="11" name="Image 1" descr="/home/claude/ddca_ppt/icons/key_cy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6518" y="2254910"/>
            <a:ext cx="427939" cy="42793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54296" y="3063240"/>
            <a:ext cx="30723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Access Control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700016" y="3566160"/>
            <a:ext cx="298094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mechanical lock cannot restrict entry to specific people or times — anyone holding the key can enter, anytime.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211312" y="1783080"/>
            <a:ext cx="3529584" cy="283464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D8E1EE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9564624" y="2057400"/>
            <a:ext cx="822960" cy="822960"/>
          </a:xfrm>
          <a:prstGeom prst="ellipse">
            <a:avLst/>
          </a:prstGeom>
          <a:solidFill>
            <a:srgbClr val="0B1D3A"/>
          </a:solidFill>
          <a:ln/>
        </p:spPr>
      </p:sp>
      <p:pic>
        <p:nvPicPr>
          <p:cNvPr id="16" name="Image 2" descr="/home/claude/ddca_ppt/icons/bolt_cya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62134" y="2254910"/>
            <a:ext cx="427939" cy="42793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39912" y="3063240"/>
            <a:ext cx="30723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Slow to Reconfigure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485632" y="3566160"/>
            <a:ext cx="298094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Changing who can enter means changing the physical lock or re-cutting keys — costly and inconvenient.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40080" y="4892040"/>
            <a:ext cx="10908792" cy="960120"/>
          </a:xfrm>
          <a:prstGeom prst="roundRect">
            <a:avLst>
              <a:gd name="adj" fmla="val 9524"/>
            </a:avLst>
          </a:prstGeom>
          <a:solidFill>
            <a:srgbClr val="0B1D3A"/>
          </a:solidFill>
          <a:ln/>
        </p:spPr>
      </p:sp>
      <p:sp>
        <p:nvSpPr>
          <p:cNvPr id="20" name="Text 15"/>
          <p:cNvSpPr/>
          <p:nvPr/>
        </p:nvSpPr>
        <p:spPr>
          <a:xfrm>
            <a:off x="914400" y="4892040"/>
            <a:ext cx="1828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4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Motivation: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2651760" y="4892040"/>
            <a:ext cx="85953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low-cost, reliable access-control circuit — built entirely from basic digital logic gates — that grants entry only when the correct code is presented.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9AA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DDCA · TEAM 7 · DIGITAL DOOR ACCESS SYSTEM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25780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8E1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057400"/>
            <a:ext cx="777240" cy="777240"/>
          </a:xfrm>
          <a:prstGeom prst="ellipse">
            <a:avLst/>
          </a:prstGeom>
          <a:solidFill>
            <a:srgbClr val="0B1D3A"/>
          </a:solidFill>
          <a:ln/>
        </p:spPr>
      </p:sp>
      <p:pic>
        <p:nvPicPr>
          <p:cNvPr id="6" name="Image 0" descr="/home/claude/ddca_ppt/icons/bullseye_cy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938" y="2243938"/>
            <a:ext cx="404165" cy="40416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74920" y="187452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D8E1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874520" y="1993392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the comparison logic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1874520" y="2450592"/>
            <a:ext cx="3794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combinational circuit that checks an entered code against a fixed reference code, bit by bit.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1737360"/>
            <a:ext cx="525780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8E1E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537960" y="2057400"/>
            <a:ext cx="777240" cy="777240"/>
          </a:xfrm>
          <a:prstGeom prst="ellipse">
            <a:avLst/>
          </a:prstGeom>
          <a:solidFill>
            <a:srgbClr val="0B1D3A"/>
          </a:solidFill>
          <a:ln/>
        </p:spPr>
      </p:sp>
      <p:pic>
        <p:nvPicPr>
          <p:cNvPr id="12" name="Image 1" descr="/home/claude/ddca_ppt/icons/chip_cy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4498" y="2243938"/>
            <a:ext cx="404165" cy="40416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0698480" y="187452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D8E1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7498080" y="1993392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only basic logic gates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7498080" y="2450592"/>
            <a:ext cx="3794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the comparator using XNOR, AND, OR and NOT gates — no microcontroller in the core logic.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640080" y="4023360"/>
            <a:ext cx="525780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8E1EE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914400" y="4343400"/>
            <a:ext cx="777240" cy="777240"/>
          </a:xfrm>
          <a:prstGeom prst="ellipse">
            <a:avLst/>
          </a:prstGeom>
          <a:solidFill>
            <a:srgbClr val="0B1D3A"/>
          </a:solidFill>
          <a:ln/>
        </p:spPr>
      </p:sp>
      <p:pic>
        <p:nvPicPr>
          <p:cNvPr id="18" name="Image 2" descr="/home/claude/ddca_ppt/icons/bolt_cya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0938" y="4529938"/>
            <a:ext cx="404165" cy="404165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074920" y="416052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D8E1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1874520" y="4279392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Drive a real unlocking action</a:t>
            </a:r>
            <a:endParaRPr lang="en-US" sz="1450" dirty="0"/>
          </a:p>
        </p:txBody>
      </p:sp>
      <p:sp>
        <p:nvSpPr>
          <p:cNvPr id="21" name="Text 16"/>
          <p:cNvSpPr/>
          <p:nvPr/>
        </p:nvSpPr>
        <p:spPr>
          <a:xfrm>
            <a:off x="1874520" y="4736592"/>
            <a:ext cx="3794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match output to energise a relay/solenoid that physically unlocks the door.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6263640" y="4023360"/>
            <a:ext cx="525780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8E1EE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6537960" y="4343400"/>
            <a:ext cx="777240" cy="777240"/>
          </a:xfrm>
          <a:prstGeom prst="ellipse">
            <a:avLst/>
          </a:prstGeom>
          <a:solidFill>
            <a:srgbClr val="0B1D3A"/>
          </a:solidFill>
          <a:ln/>
        </p:spPr>
      </p:sp>
      <p:pic>
        <p:nvPicPr>
          <p:cNvPr id="24" name="Image 3" descr="/home/claude/ddca_ppt/icons/check_cya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24498" y="4529938"/>
            <a:ext cx="404165" cy="404165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0698480" y="416052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D8E1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600" dirty="0"/>
          </a:p>
        </p:txBody>
      </p:sp>
      <p:sp>
        <p:nvSpPr>
          <p:cNvPr id="26" name="Text 20"/>
          <p:cNvSpPr/>
          <p:nvPr/>
        </p:nvSpPr>
        <p:spPr>
          <a:xfrm>
            <a:off x="7498080" y="4279392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Verify with a truth table</a:t>
            </a:r>
            <a:endParaRPr lang="en-US" sz="1450" dirty="0"/>
          </a:p>
        </p:txBody>
      </p:sp>
      <p:sp>
        <p:nvSpPr>
          <p:cNvPr id="27" name="Text 21"/>
          <p:cNvSpPr/>
          <p:nvPr/>
        </p:nvSpPr>
        <p:spPr>
          <a:xfrm>
            <a:off x="7498080" y="4736592"/>
            <a:ext cx="3794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 and test every input combination to confirm the circuit only unlocks for the correct code.</a:t>
            </a:r>
            <a:endParaRPr lang="en-US" sz="1150" dirty="0"/>
          </a:p>
        </p:txBody>
      </p:sp>
      <p:sp>
        <p:nvSpPr>
          <p:cNvPr id="28" name="Text 22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9AA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DDCA · TEAM 7 · DIGITAL DOOR ACCESS SYSTEM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Block Diagram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834640"/>
            <a:ext cx="1965960" cy="1188720"/>
          </a:xfrm>
          <a:prstGeom prst="roundRect">
            <a:avLst>
              <a:gd name="adj" fmla="val 6154"/>
            </a:avLst>
          </a:prstGeom>
          <a:solidFill>
            <a:srgbClr val="0B1D3A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834640"/>
            <a:ext cx="1965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Keypad /</a:t>
            </a:r>
            <a:endParaRPr lang="en-US" sz="11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Input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063240" y="2834640"/>
            <a:ext cx="2148840" cy="1188720"/>
          </a:xfrm>
          <a:prstGeom prst="roundRect">
            <a:avLst>
              <a:gd name="adj" fmla="val 6154"/>
            </a:avLst>
          </a:prstGeom>
          <a:solidFill>
            <a:srgbClr val="0B1D3A"/>
          </a:solidFill>
          <a:ln/>
        </p:spPr>
      </p:sp>
      <p:sp>
        <p:nvSpPr>
          <p:cNvPr id="7" name="Text 5"/>
          <p:cNvSpPr/>
          <p:nvPr/>
        </p:nvSpPr>
        <p:spPr>
          <a:xfrm>
            <a:off x="3063240" y="2834640"/>
            <a:ext cx="2148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Combinational</a:t>
            </a:r>
            <a:endParaRPr lang="en-US" sz="11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Comparator Logic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669280" y="2834640"/>
            <a:ext cx="1828800" cy="1188720"/>
          </a:xfrm>
          <a:prstGeom prst="diamond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0" y="2834640"/>
            <a:ext cx="1828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1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Match?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001000" y="1417320"/>
            <a:ext cx="1965960" cy="1051560"/>
          </a:xfrm>
          <a:prstGeom prst="roundRect">
            <a:avLst>
              <a:gd name="adj" fmla="val 6957"/>
            </a:avLst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8001000" y="1417320"/>
            <a:ext cx="19659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Relay / Solenoid</a:t>
            </a:r>
            <a:endParaRPr lang="en-US" sz="11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Door Unlocks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001000" y="4206240"/>
            <a:ext cx="1965960" cy="1051560"/>
          </a:xfrm>
          <a:prstGeom prst="roundRect">
            <a:avLst>
              <a:gd name="adj" fmla="val 6957"/>
            </a:avLst>
          </a:prstGeom>
          <a:solidFill>
            <a:srgbClr val="B85042"/>
          </a:solidFill>
          <a:ln/>
        </p:spPr>
      </p:sp>
      <p:sp>
        <p:nvSpPr>
          <p:cNvPr id="13" name="Text 11"/>
          <p:cNvSpPr/>
          <p:nvPr/>
        </p:nvSpPr>
        <p:spPr>
          <a:xfrm>
            <a:off x="8001000" y="4206240"/>
            <a:ext cx="19659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Buzzer + Red LED</a:t>
            </a:r>
            <a:endParaRPr lang="en-US" sz="11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Access Denied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10378440" y="1417320"/>
            <a:ext cx="1417320" cy="1051560"/>
          </a:xfrm>
          <a:prstGeom prst="roundRect">
            <a:avLst>
              <a:gd name="adj" fmla="val 6957"/>
            </a:avLst>
          </a:prstGeom>
          <a:solidFill>
            <a:srgbClr val="028090"/>
          </a:solidFill>
          <a:ln/>
        </p:spPr>
      </p:sp>
      <p:sp>
        <p:nvSpPr>
          <p:cNvPr id="15" name="Text 13"/>
          <p:cNvSpPr/>
          <p:nvPr/>
        </p:nvSpPr>
        <p:spPr>
          <a:xfrm>
            <a:off x="10378440" y="1417320"/>
            <a:ext cx="14173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LED</a:t>
            </a:r>
            <a:endParaRPr lang="en-US" sz="11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Stays Lit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606040" y="3429000"/>
            <a:ext cx="457200" cy="0"/>
          </a:xfrm>
          <a:prstGeom prst="line">
            <a:avLst/>
          </a:prstGeom>
          <a:noFill/>
          <a:ln w="22225">
            <a:solidFill>
              <a:srgbClr val="5A6B85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212080" y="3429000"/>
            <a:ext cx="457200" cy="0"/>
          </a:xfrm>
          <a:prstGeom prst="line">
            <a:avLst/>
          </a:prstGeom>
          <a:noFill/>
          <a:ln w="22225">
            <a:solidFill>
              <a:srgbClr val="5A6B85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 flipV="1">
            <a:off x="7253952" y="2221992"/>
            <a:ext cx="570206" cy="978408"/>
          </a:xfrm>
          <a:prstGeom prst="line">
            <a:avLst/>
          </a:prstGeom>
          <a:noFill/>
          <a:ln w="22225">
            <a:solidFill>
              <a:srgbClr val="5A6B85"/>
            </a:solidFill>
            <a:prstDash val="solid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7223760" y="1901952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223760" y="3611880"/>
            <a:ext cx="777240" cy="960120"/>
          </a:xfrm>
          <a:prstGeom prst="line">
            <a:avLst/>
          </a:prstGeom>
          <a:noFill/>
          <a:ln w="22225">
            <a:solidFill>
              <a:srgbClr val="5A6B85"/>
            </a:solidFill>
            <a:prstDash val="solid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7161218" y="4557163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9966960" y="1920240"/>
            <a:ext cx="411480" cy="0"/>
          </a:xfrm>
          <a:prstGeom prst="line">
            <a:avLst/>
          </a:prstGeom>
          <a:noFill/>
          <a:ln w="22225">
            <a:solidFill>
              <a:srgbClr val="5A6B85"/>
            </a:solidFill>
            <a:prstDash val="solid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640080" y="566928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comparator continuously checks the entered bits; a single AND-combined "match" signal decides which path the system takes.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9AA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DDCA · TEAM 7 · DIGITAL DOOR ACCESS SYSTEM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Combinational Logic &amp; Truth Table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029200" cy="4434840"/>
          </a:xfrm>
          <a:prstGeom prst="roundRect">
            <a:avLst>
              <a:gd name="adj" fmla="val 2062"/>
            </a:avLst>
          </a:prstGeom>
          <a:solidFill>
            <a:srgbClr val="FFFFFF"/>
          </a:solidFill>
          <a:ln w="12700">
            <a:solidFill>
              <a:srgbClr val="D8E1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920240"/>
            <a:ext cx="685800" cy="685800"/>
          </a:xfrm>
          <a:prstGeom prst="ellipse">
            <a:avLst/>
          </a:prstGeom>
          <a:solidFill>
            <a:srgbClr val="0B1D3A"/>
          </a:solidFill>
          <a:ln/>
        </p:spPr>
      </p:sp>
      <p:pic>
        <p:nvPicPr>
          <p:cNvPr id="6" name="Image 0" descr="/home/claude/ddca_ppt/icons/project_cy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992" y="2084832"/>
            <a:ext cx="356616" cy="35661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196596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Bit-wise Comparison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914400" y="2743200"/>
            <a:ext cx="4480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entered bit (A, B, C) is compared to the corresponding reference bit using an </a:t>
            </a: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XNOR gate</a:t>
            </a:r>
            <a:r>
              <a:rPr lang="en-US" sz="1250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it outputs 1 only when the two bits are equal.
The three XNOR outputs are combined with an </a:t>
            </a: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gate</a:t>
            </a:r>
            <a:r>
              <a:rPr lang="en-US" sz="1250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so the final output Y is 1 only when all bits match.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914400" y="4160520"/>
            <a:ext cx="4480560" cy="18288"/>
          </a:xfrm>
          <a:prstGeom prst="rect">
            <a:avLst/>
          </a:prstGeom>
          <a:solidFill>
            <a:srgbClr val="D8E1EE"/>
          </a:solidFill>
          <a:ln/>
        </p:spPr>
      </p:sp>
      <p:sp>
        <p:nvSpPr>
          <p:cNvPr id="10" name="Text 7"/>
          <p:cNvSpPr/>
          <p:nvPr/>
        </p:nvSpPr>
        <p:spPr>
          <a:xfrm>
            <a:off x="914400" y="434340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914400" y="4617720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914400" y="5166360"/>
            <a:ext cx="4480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925312" y="1219703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Sample Truth Table  (3-bit code, reference = 1 0 1)</a:t>
            </a:r>
            <a:endParaRPr lang="en-US" sz="13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2087058"/>
              </p:ext>
            </p:extLst>
          </p:nvPr>
        </p:nvGraphicFramePr>
        <p:xfrm>
          <a:off x="5943600" y="1508760"/>
          <a:ext cx="5577840" cy="2377440"/>
        </p:xfrm>
        <a:graphic>
          <a:graphicData uri="http://schemas.openxmlformats.org/drawingml/2006/table">
            <a:tbl>
              <a:tblPr/>
              <a:tblGrid>
                <a:gridCol w="13944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44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944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944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62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 (Unlock)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0B1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0B1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0B1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0B1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0B1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0B1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0B1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0B1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0B1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0B1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0B1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0B1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7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0B1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7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7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7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0B1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0B1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0B1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0B1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5" name="Text 11"/>
          <p:cNvSpPr/>
          <p:nvPr/>
        </p:nvSpPr>
        <p:spPr>
          <a:xfrm>
            <a:off x="777240" y="4608576"/>
            <a:ext cx="4892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exact match 1-0-1 pulls the output high — every other combination keeps the door locked.</a:t>
            </a:r>
          </a:p>
          <a:p>
            <a:pPr marL="0" indent="0">
              <a:lnSpc>
                <a:spcPct val="120000"/>
              </a:lnSpc>
              <a:buNone/>
            </a:pPr>
            <a:endParaRPr lang="en-US" sz="1150" i="1" dirty="0">
              <a:solidFill>
                <a:srgbClr val="5A6B85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ct val="120000"/>
              </a:lnSpc>
              <a:buNone/>
            </a:pPr>
            <a:endParaRPr lang="en-US" sz="1150" i="1" dirty="0">
              <a:solidFill>
                <a:srgbClr val="5A6B85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now, we only use AND Gate and NOT Gate for simple construction.</a:t>
            </a:r>
          </a:p>
          <a:p>
            <a:pPr marL="0" indent="0">
              <a:lnSpc>
                <a:spcPct val="120000"/>
              </a:lnSpc>
              <a:buNone/>
            </a:pP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10977372" y="5143931"/>
            <a:ext cx="1051560" cy="1051560"/>
          </a:xfrm>
          <a:prstGeom prst="ellipse">
            <a:avLst/>
          </a:prstGeom>
          <a:solidFill>
            <a:srgbClr val="E4F0FA"/>
          </a:solidFill>
          <a:ln/>
        </p:spPr>
      </p:sp>
      <p:pic>
        <p:nvPicPr>
          <p:cNvPr id="17" name="Image 1" descr="/home/claude/ddca_ppt/icons/chip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13973" y="5349240"/>
            <a:ext cx="578358" cy="57835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9AA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DDCA · TEAM 7 · DIGITAL DOOR ACCESS SYSTEM</a:t>
            </a:r>
            <a:endParaRPr lang="en-US" sz="900" dirty="0"/>
          </a:p>
        </p:txBody>
      </p:sp>
      <p:sp>
        <p:nvSpPr>
          <p:cNvPr id="19" name="Text 1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389EB085-6F3B-7309-C0ED-06FE54A2046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57468" y="3975562"/>
            <a:ext cx="4207993" cy="238159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Working Flowchart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200400" y="1691640"/>
            <a:ext cx="2011680" cy="548640"/>
          </a:xfrm>
          <a:prstGeom prst="roundRect">
            <a:avLst>
              <a:gd name="adj" fmla="val 58333"/>
            </a:avLst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0" y="16916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206240" y="2240280"/>
            <a:ext cx="0" cy="274320"/>
          </a:xfrm>
          <a:prstGeom prst="line">
            <a:avLst/>
          </a:prstGeom>
          <a:noFill/>
          <a:ln w="22225">
            <a:solidFill>
              <a:srgbClr val="5A6B85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3017520" y="2514600"/>
            <a:ext cx="2377440" cy="594360"/>
          </a:xfrm>
          <a:prstGeom prst="roundRect">
            <a:avLst>
              <a:gd name="adj" fmla="val 53846"/>
            </a:avLst>
          </a:prstGeom>
          <a:solidFill>
            <a:srgbClr val="0B1D3A"/>
          </a:solidFill>
          <a:ln/>
        </p:spPr>
      </p:sp>
      <p:sp>
        <p:nvSpPr>
          <p:cNvPr id="8" name="Text 6"/>
          <p:cNvSpPr/>
          <p:nvPr/>
        </p:nvSpPr>
        <p:spPr>
          <a:xfrm>
            <a:off x="3017520" y="251460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enters code</a:t>
            </a:r>
            <a:endParaRPr lang="en-US" sz="11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keypad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206240" y="3108960"/>
            <a:ext cx="0" cy="274320"/>
          </a:xfrm>
          <a:prstGeom prst="line">
            <a:avLst/>
          </a:prstGeom>
          <a:noFill/>
          <a:ln w="22225">
            <a:solidFill>
              <a:srgbClr val="5A6B85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926080" y="3383280"/>
            <a:ext cx="2560320" cy="640080"/>
          </a:xfrm>
          <a:prstGeom prst="roundRect">
            <a:avLst>
              <a:gd name="adj" fmla="val 50000"/>
            </a:avLst>
          </a:prstGeom>
          <a:solidFill>
            <a:srgbClr val="0B1D3A"/>
          </a:solidFill>
          <a:ln/>
        </p:spPr>
      </p:sp>
      <p:sp>
        <p:nvSpPr>
          <p:cNvPr id="11" name="Text 9"/>
          <p:cNvSpPr/>
          <p:nvPr/>
        </p:nvSpPr>
        <p:spPr>
          <a:xfrm>
            <a:off x="2926080" y="338328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Gates compare</a:t>
            </a:r>
            <a:endParaRPr lang="en-US" sz="11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bit to reference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206240" y="4023360"/>
            <a:ext cx="0" cy="292608"/>
          </a:xfrm>
          <a:prstGeom prst="line">
            <a:avLst/>
          </a:prstGeom>
          <a:noFill/>
          <a:ln w="22225">
            <a:solidFill>
              <a:srgbClr val="5A6B85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2880360" y="4315968"/>
            <a:ext cx="2651760" cy="1051560"/>
          </a:xfrm>
          <a:prstGeom prst="diamond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2880360" y="4315968"/>
            <a:ext cx="26517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output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1 ?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452360" y="4434840"/>
            <a:ext cx="2286000" cy="822960"/>
          </a:xfrm>
          <a:prstGeom prst="roundRect">
            <a:avLst>
              <a:gd name="adj" fmla="val 38889"/>
            </a:avLst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7452360" y="443484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Relay energised —</a:t>
            </a:r>
            <a:endParaRPr lang="en-US" sz="11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door unlocks + green LED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532120" y="4846320"/>
            <a:ext cx="1920240" cy="0"/>
          </a:xfrm>
          <a:prstGeom prst="line">
            <a:avLst/>
          </a:prstGeom>
          <a:noFill/>
          <a:ln w="22225">
            <a:solidFill>
              <a:srgbClr val="5A6B85"/>
            </a:solidFill>
            <a:prstDash val="solid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5715000" y="455371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4434840"/>
            <a:ext cx="2331720" cy="822960"/>
          </a:xfrm>
          <a:prstGeom prst="roundRect">
            <a:avLst>
              <a:gd name="adj" fmla="val 38889"/>
            </a:avLst>
          </a:prstGeom>
          <a:solidFill>
            <a:srgbClr val="B85042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443484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Buzzer sounds +</a:t>
            </a:r>
            <a:endParaRPr lang="en-US" sz="11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LED — access denied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2880360" y="4846320"/>
            <a:ext cx="0" cy="0"/>
          </a:xfrm>
          <a:prstGeom prst="line">
            <a:avLst/>
          </a:prstGeom>
          <a:noFill/>
          <a:ln w="22225">
            <a:solidFill>
              <a:srgbClr val="5A6B85"/>
            </a:solidFill>
            <a:prstDash val="solid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1953883" y="501091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050" dirty="0"/>
              <a:t>NO</a:t>
            </a:r>
          </a:p>
          <a:p>
            <a:pPr marL="0" indent="0" algn="r">
              <a:buNone/>
            </a:pP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206240" y="5367528"/>
            <a:ext cx="0" cy="438912"/>
          </a:xfrm>
          <a:prstGeom prst="line">
            <a:avLst/>
          </a:prstGeom>
          <a:noFill/>
          <a:ln w="22225">
            <a:solidFill>
              <a:srgbClr val="5A6B85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3017520" y="5806440"/>
            <a:ext cx="2377440" cy="502920"/>
          </a:xfrm>
          <a:prstGeom prst="roundRect">
            <a:avLst>
              <a:gd name="adj" fmla="val 63636"/>
            </a:avLst>
          </a:prstGeom>
          <a:solidFill>
            <a:srgbClr val="132C4F"/>
          </a:solidFill>
          <a:ln/>
        </p:spPr>
      </p:sp>
      <p:sp>
        <p:nvSpPr>
          <p:cNvPr id="25" name="Text 23"/>
          <p:cNvSpPr/>
          <p:nvPr/>
        </p:nvSpPr>
        <p:spPr>
          <a:xfrm>
            <a:off x="3017520" y="580644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7772400" y="1691640"/>
            <a:ext cx="3794760" cy="2377440"/>
          </a:xfrm>
          <a:prstGeom prst="roundRect">
            <a:avLst>
              <a:gd name="adj" fmla="val 3846"/>
            </a:avLst>
          </a:prstGeom>
          <a:solidFill>
            <a:srgbClr val="0B1D3A"/>
          </a:solidFill>
          <a:ln/>
        </p:spPr>
      </p:sp>
      <p:sp>
        <p:nvSpPr>
          <p:cNvPr id="27" name="Shape 25"/>
          <p:cNvSpPr/>
          <p:nvPr/>
        </p:nvSpPr>
        <p:spPr>
          <a:xfrm>
            <a:off x="8046720" y="1920240"/>
            <a:ext cx="685800" cy="685800"/>
          </a:xfrm>
          <a:prstGeom prst="ellipse">
            <a:avLst/>
          </a:prstGeom>
          <a:solidFill>
            <a:srgbClr val="1B3A63"/>
          </a:solidFill>
          <a:ln/>
        </p:spPr>
      </p:sp>
      <p:pic>
        <p:nvPicPr>
          <p:cNvPr id="28" name="Image 0" descr="/home/claude/ddca_ppt/icons/sync_cy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1312" y="2084832"/>
            <a:ext cx="356616" cy="356616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8869680" y="196596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Purely Combinational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8046720" y="2697480"/>
            <a:ext cx="3291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B9C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clock or memory element — the decision is made instantly and continuously from the present input state alone. As soon as the correct code is removed, the output returns low.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9AA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DDCA · TEAM 7 · DIGITAL DOOR ACCESS SYSTEM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Components Used</a:t>
            </a:r>
            <a:endParaRPr lang="en-US" sz="3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9450816"/>
              </p:ext>
            </p:extLst>
          </p:nvPr>
        </p:nvGraphicFramePr>
        <p:xfrm>
          <a:off x="640080" y="1737360"/>
          <a:ext cx="10908792" cy="2895600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881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2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 / Part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B1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Switches / Keypad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B1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SPDT toggles or 4×3 matrix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B1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 the access code as logic 0/1 inputs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B1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AND Gate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B1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74LS08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B1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Combines all bit-comparisons into one match signal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B1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Relay / Solenoid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B1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5V/12V relay module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B1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Physically unlocks the door mechanism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B1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Indicator LEDs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B1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Green / Red LED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B1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Shows access granted or denied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B1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Power Supply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B1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5V regulated (7805)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B1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Powers all logic ICs and the relay driver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9AA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DDCA · TEAM 7 · DIGITAL DOOR ACCESS SYSTEM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This System Can Be Used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42900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8E1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988820" y="2039112"/>
            <a:ext cx="731520" cy="731520"/>
          </a:xfrm>
          <a:prstGeom prst="ellipse">
            <a:avLst/>
          </a:prstGeom>
          <a:solidFill>
            <a:srgbClr val="0B1D3A"/>
          </a:solidFill>
          <a:ln/>
        </p:spPr>
      </p:sp>
      <p:pic>
        <p:nvPicPr>
          <p:cNvPr id="6" name="Image 0" descr="/home/claude/ddca_ppt/icons/home_cy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4385" y="2214677"/>
            <a:ext cx="380390" cy="38039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83464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Homes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68680" y="3200400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Keyless entry for front doors and gates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297680" y="1783080"/>
            <a:ext cx="342900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8E1E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646420" y="2039112"/>
            <a:ext cx="731520" cy="731520"/>
          </a:xfrm>
          <a:prstGeom prst="ellipse">
            <a:avLst/>
          </a:prstGeom>
          <a:solidFill>
            <a:srgbClr val="0B1D3A"/>
          </a:solidFill>
          <a:ln/>
        </p:spPr>
      </p:sp>
      <p:pic>
        <p:nvPicPr>
          <p:cNvPr id="11" name="Image 1" descr="/home/claude/ddca_ppt/icons/building_cy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21985" y="2214677"/>
            <a:ext cx="380390" cy="38039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480560" y="283464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Offices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526280" y="3200400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Restricting entry to authorised staff only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7955280" y="1783080"/>
            <a:ext cx="342900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8E1EE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9304020" y="2039112"/>
            <a:ext cx="731520" cy="731520"/>
          </a:xfrm>
          <a:prstGeom prst="ellipse">
            <a:avLst/>
          </a:prstGeom>
          <a:solidFill>
            <a:srgbClr val="0B1D3A"/>
          </a:solidFill>
          <a:ln/>
        </p:spPr>
      </p:sp>
      <p:pic>
        <p:nvPicPr>
          <p:cNvPr id="16" name="Image 2" descr="/home/claude/ddca_ppt/icons/warehouse_cya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79585" y="2214677"/>
            <a:ext cx="380390" cy="38039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138160" y="283464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Storerooms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8183880" y="3200400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Protecting inventory &amp; equipment areas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640080" y="4023360"/>
            <a:ext cx="342900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8E1EE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1988820" y="4279392"/>
            <a:ext cx="731520" cy="731520"/>
          </a:xfrm>
          <a:prstGeom prst="ellipse">
            <a:avLst/>
          </a:prstGeom>
          <a:solidFill>
            <a:srgbClr val="0B1D3A"/>
          </a:solidFill>
          <a:ln/>
        </p:spPr>
      </p:sp>
      <p:pic>
        <p:nvPicPr>
          <p:cNvPr id="21" name="Image 3" descr="/home/claude/ddca_ppt/icons/flask_cya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64385" y="4454957"/>
            <a:ext cx="380390" cy="38039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22960" y="507492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Labs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868680" y="5440680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Controlling access to sensitive lab equipment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297680" y="4023360"/>
            <a:ext cx="342900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8E1EE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5646420" y="4279392"/>
            <a:ext cx="731520" cy="731520"/>
          </a:xfrm>
          <a:prstGeom prst="ellipse">
            <a:avLst/>
          </a:prstGeom>
          <a:solidFill>
            <a:srgbClr val="0B1D3A"/>
          </a:solidFill>
          <a:ln/>
        </p:spPr>
      </p:sp>
      <p:pic>
        <p:nvPicPr>
          <p:cNvPr id="26" name="Image 4" descr="/home/claude/ddca_ppt/icons/server_cya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21985" y="4454957"/>
            <a:ext cx="380390" cy="38039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480560" y="507492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Server Rooms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4526280" y="5440680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Guarding critical IT infrastructure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7955280" y="4023360"/>
            <a:ext cx="342900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8E1EE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9304020" y="4279392"/>
            <a:ext cx="731520" cy="731520"/>
          </a:xfrm>
          <a:prstGeom prst="ellipse">
            <a:avLst/>
          </a:prstGeom>
          <a:solidFill>
            <a:srgbClr val="0B1D3A"/>
          </a:solidFill>
          <a:ln/>
        </p:spPr>
      </p:sp>
      <p:pic>
        <p:nvPicPr>
          <p:cNvPr id="31" name="Image 5" descr="/home/claude/ddca_ppt/icons/shield_cya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79585" y="4454957"/>
            <a:ext cx="380390" cy="38039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138160" y="507492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Lockers &amp; Safes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8183880" y="5440680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or shared secure storage</a:t>
            </a:r>
            <a:endParaRPr lang="en-US" sz="1050" dirty="0"/>
          </a:p>
        </p:txBody>
      </p:sp>
      <p:sp>
        <p:nvSpPr>
          <p:cNvPr id="34" name="Text 26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9AA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DDCA · TEAM 7 · DIGITAL DOOR ACCESS SYSTEM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Advantages &amp; Limitations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349240" cy="4343400"/>
          </a:xfrm>
          <a:prstGeom prst="roundRect">
            <a:avLst>
              <a:gd name="adj" fmla="val 2105"/>
            </a:avLst>
          </a:prstGeom>
          <a:solidFill>
            <a:srgbClr val="E4F7F4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196596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/home/claude/ddca_ppt/icons/thumbsup_cy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8418" y="2109978"/>
            <a:ext cx="352044" cy="3520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201168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Advantages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960120" y="2862072"/>
            <a:ext cx="91440" cy="914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9" name="Text 6"/>
          <p:cNvSpPr/>
          <p:nvPr/>
        </p:nvSpPr>
        <p:spPr>
          <a:xfrm>
            <a:off x="1188720" y="2743200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physical key to lose, copy, or pick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960120" y="3483864"/>
            <a:ext cx="91440" cy="914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8"/>
          <p:cNvSpPr/>
          <p:nvPr/>
        </p:nvSpPr>
        <p:spPr>
          <a:xfrm>
            <a:off x="1188720" y="3364992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response — no processing delay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960120" y="4105656"/>
            <a:ext cx="91440" cy="914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0"/>
          <p:cNvSpPr/>
          <p:nvPr/>
        </p:nvSpPr>
        <p:spPr>
          <a:xfrm>
            <a:off x="1188720" y="3986784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low-cost design using standard ICs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960120" y="4727448"/>
            <a:ext cx="91440" cy="914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5" name="Text 12"/>
          <p:cNvSpPr/>
          <p:nvPr/>
        </p:nvSpPr>
        <p:spPr>
          <a:xfrm>
            <a:off x="1188720" y="4608576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code changed easily by rewiring reference bits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960120" y="5349240"/>
            <a:ext cx="91440" cy="914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7" name="Text 14"/>
          <p:cNvSpPr/>
          <p:nvPr/>
        </p:nvSpPr>
        <p:spPr>
          <a:xfrm>
            <a:off x="1188720" y="5230368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power consumption, easy to maintain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6172200" y="1737360"/>
            <a:ext cx="5376672" cy="4343400"/>
          </a:xfrm>
          <a:prstGeom prst="roundRect">
            <a:avLst>
              <a:gd name="adj" fmla="val 2105"/>
            </a:avLst>
          </a:prstGeom>
          <a:solidFill>
            <a:srgbClr val="FCEBEA"/>
          </a:solidFill>
          <a:ln/>
        </p:spPr>
      </p:sp>
      <p:sp>
        <p:nvSpPr>
          <p:cNvPr id="19" name="Shape 16"/>
          <p:cNvSpPr/>
          <p:nvPr/>
        </p:nvSpPr>
        <p:spPr>
          <a:xfrm>
            <a:off x="6446520" y="1965960"/>
            <a:ext cx="640080" cy="640080"/>
          </a:xfrm>
          <a:prstGeom prst="ellipse">
            <a:avLst/>
          </a:prstGeom>
          <a:solidFill>
            <a:srgbClr val="B85042"/>
          </a:solidFill>
          <a:ln/>
        </p:spPr>
      </p:sp>
      <p:pic>
        <p:nvPicPr>
          <p:cNvPr id="20" name="Image 1" descr="/home/claude/ddca_ppt/icons/thumbsdown_r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0538" y="2109978"/>
            <a:ext cx="352044" cy="352044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7223760" y="201168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</a:t>
            </a:r>
            <a:endParaRPr lang="en-US" sz="1700" dirty="0"/>
          </a:p>
        </p:txBody>
      </p:sp>
      <p:sp>
        <p:nvSpPr>
          <p:cNvPr id="22" name="Shape 18"/>
          <p:cNvSpPr/>
          <p:nvPr/>
        </p:nvSpPr>
        <p:spPr>
          <a:xfrm>
            <a:off x="6492240" y="2862072"/>
            <a:ext cx="91440" cy="9144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23" name="Text 19"/>
          <p:cNvSpPr/>
          <p:nvPr/>
        </p:nvSpPr>
        <p:spPr>
          <a:xfrm>
            <a:off x="6720840" y="2743200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code — changing it needs rewiring, not reprogramming</a:t>
            </a:r>
            <a:endParaRPr lang="en-US" sz="1250" dirty="0"/>
          </a:p>
        </p:txBody>
      </p:sp>
      <p:sp>
        <p:nvSpPr>
          <p:cNvPr id="24" name="Shape 20"/>
          <p:cNvSpPr/>
          <p:nvPr/>
        </p:nvSpPr>
        <p:spPr>
          <a:xfrm>
            <a:off x="6492240" y="3483864"/>
            <a:ext cx="91440" cy="9144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25" name="Text 21"/>
          <p:cNvSpPr/>
          <p:nvPr/>
        </p:nvSpPr>
        <p:spPr>
          <a:xfrm>
            <a:off x="6720840" y="3364992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memory of failed attempts (purely combinational)</a:t>
            </a:r>
            <a:endParaRPr lang="en-US" sz="1250" dirty="0"/>
          </a:p>
        </p:txBody>
      </p:sp>
      <p:sp>
        <p:nvSpPr>
          <p:cNvPr id="26" name="Shape 22"/>
          <p:cNvSpPr/>
          <p:nvPr/>
        </p:nvSpPr>
        <p:spPr>
          <a:xfrm>
            <a:off x="6492240" y="4105656"/>
            <a:ext cx="91440" cy="9144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27" name="Text 23"/>
          <p:cNvSpPr/>
          <p:nvPr/>
        </p:nvSpPr>
        <p:spPr>
          <a:xfrm>
            <a:off x="6720840" y="3986784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built-in lockout after repeated wrong codes</a:t>
            </a:r>
            <a:endParaRPr lang="en-US" sz="1250" dirty="0"/>
          </a:p>
        </p:txBody>
      </p:sp>
      <p:sp>
        <p:nvSpPr>
          <p:cNvPr id="28" name="Shape 24"/>
          <p:cNvSpPr/>
          <p:nvPr/>
        </p:nvSpPr>
        <p:spPr>
          <a:xfrm>
            <a:off x="6492240" y="4727448"/>
            <a:ext cx="91440" cy="9144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29" name="Text 25"/>
          <p:cNvSpPr/>
          <p:nvPr/>
        </p:nvSpPr>
        <p:spPr>
          <a:xfrm>
            <a:off x="6720840" y="4608576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security than microcontroller / biometric systems</a:t>
            </a:r>
            <a:endParaRPr lang="en-US" sz="1250" dirty="0"/>
          </a:p>
        </p:txBody>
      </p:sp>
      <p:sp>
        <p:nvSpPr>
          <p:cNvPr id="30" name="Shape 26"/>
          <p:cNvSpPr/>
          <p:nvPr/>
        </p:nvSpPr>
        <p:spPr>
          <a:xfrm>
            <a:off x="6492240" y="5349240"/>
            <a:ext cx="91440" cy="9144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31" name="Text 27"/>
          <p:cNvSpPr/>
          <p:nvPr/>
        </p:nvSpPr>
        <p:spPr>
          <a:xfrm>
            <a:off x="6720840" y="5230368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0B1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Wiring complexity grows with longer access codes</a:t>
            </a:r>
            <a:endParaRPr lang="en-US" sz="1250" dirty="0"/>
          </a:p>
        </p:txBody>
      </p:sp>
      <p:sp>
        <p:nvSpPr>
          <p:cNvPr id="32" name="Text 28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9AA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DDCA · TEAM 7 · DIGITAL DOOR ACCESS SYSTEM</a:t>
            </a:r>
            <a:endParaRPr lang="en-US" sz="900" dirty="0"/>
          </a:p>
        </p:txBody>
      </p:sp>
      <p:sp>
        <p:nvSpPr>
          <p:cNvPr id="33" name="Text 2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32C4F"/>
          </a:solidFill>
          <a:ln/>
        </p:spPr>
      </p:sp>
      <p:sp>
        <p:nvSpPr>
          <p:cNvPr id="3" name="Shape 1"/>
          <p:cNvSpPr/>
          <p:nvPr/>
        </p:nvSpPr>
        <p:spPr>
          <a:xfrm>
            <a:off x="1280160" y="2468880"/>
            <a:ext cx="1645920" cy="1645920"/>
          </a:xfrm>
          <a:prstGeom prst="ellipse">
            <a:avLst/>
          </a:prstGeom>
          <a:solidFill>
            <a:srgbClr val="1B3A63"/>
          </a:solidFill>
          <a:ln/>
        </p:spPr>
      </p:sp>
      <p:pic>
        <p:nvPicPr>
          <p:cNvPr id="4" name="Image 0" descr="/home/claude/ddca_ppt/icons/flag_cy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0492" y="2839212"/>
            <a:ext cx="905256" cy="9052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663440" y="5943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617720" y="960120"/>
            <a:ext cx="6766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Practical Case for</a:t>
            </a:r>
            <a:endParaRPr lang="en-US" sz="3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Combinational Logic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4663440" y="2514600"/>
            <a:ext cx="67208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7E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shows that a functional, real-world security device can be built from nothing more than</a:t>
            </a:r>
            <a:r>
              <a:rPr lang="en-US" sz="135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AND, OR and NOT gates</a:t>
            </a:r>
            <a:r>
              <a:rPr lang="en-US" sz="1350" dirty="0">
                <a:solidFill>
                  <a:srgbClr val="D7E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no microcontroller needed for the core decision-making.
The design was verified with a truth table covering every input combination, confirming the door unlocks </a:t>
            </a:r>
            <a:r>
              <a:rPr lang="en-US" sz="1350" b="1" i="1" dirty="0">
                <a:solidFill>
                  <a:srgbClr val="D7E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</a:t>
            </a:r>
            <a:r>
              <a:rPr lang="en-US" sz="1350" dirty="0">
                <a:solidFill>
                  <a:srgbClr val="D7E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the correct code, meeting the project's objectives of a low-cost, reliable, gate-level access-control system.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4663440" y="4434840"/>
            <a:ext cx="6720840" cy="0"/>
          </a:xfrm>
          <a:prstGeom prst="line">
            <a:avLst/>
          </a:prstGeom>
          <a:noFill/>
          <a:ln w="12700">
            <a:solidFill>
              <a:srgbClr val="25436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663440" y="45720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709160" y="4956048"/>
            <a:ext cx="82296" cy="82296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11" name="Text 8"/>
          <p:cNvSpPr/>
          <p:nvPr/>
        </p:nvSpPr>
        <p:spPr>
          <a:xfrm>
            <a:off x="4937760" y="4818888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sequential logic for lockout after failed attempts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709160" y="5394960"/>
            <a:ext cx="82296" cy="82296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13" name="Text 10"/>
          <p:cNvSpPr/>
          <p:nvPr/>
        </p:nvSpPr>
        <p:spPr>
          <a:xfrm>
            <a:off x="4937760" y="52578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a microcontroller + keypad matrix for reprogrammable codes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709160" y="5833872"/>
            <a:ext cx="82296" cy="82296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15" name="Text 12"/>
          <p:cNvSpPr/>
          <p:nvPr/>
        </p:nvSpPr>
        <p:spPr>
          <a:xfrm>
            <a:off x="4937760" y="5696712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with biometric or RFID / IoT-based access control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663440" y="6400800"/>
            <a:ext cx="6675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CA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07  ·  Manideep · Aarush · Hansika · Neelagreeva · Swarajith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1096</Words>
  <Application>Microsoft Office PowerPoint</Application>
  <PresentationFormat>Widescreen</PresentationFormat>
  <Paragraphs>194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 Neelagreeva</cp:lastModifiedBy>
  <cp:revision>2</cp:revision>
  <dcterms:created xsi:type="dcterms:W3CDTF">2026-09-10T03:22:48Z</dcterms:created>
  <dcterms:modified xsi:type="dcterms:W3CDTF">2026-10-01T03:07:14Z</dcterms:modified>
</cp:coreProperties>
</file>