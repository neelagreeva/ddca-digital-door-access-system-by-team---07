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43400" cy="6858000"/>
          </a:xfrm>
          <a:prstGeom prst="rect">
            <a:avLst/>
          </a:prstGeom>
          <a:solidFill>
            <a:srgbClr val="1324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868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 ·  MODULE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325880"/>
            <a:ext cx="6858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Door Access System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Combinational Logic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548640" cy="54864"/>
          </a:xfrm>
          <a:prstGeom prst="rect">
            <a:avLst/>
          </a:prstGeom>
          <a:solidFill>
            <a:srgbClr val="29B6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374904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of Module 3 — Opening the Storage: how the datapath reads and writes a register file and memory, and why these ideas matter for building a combinational-logic access-control system.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126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CO3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 the Module 3 course outline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75320" y="1005840"/>
            <a:ext cx="3520440" cy="0"/>
          </a:xfrm>
          <a:prstGeom prst="line">
            <a:avLst/>
          </a:prstGeom>
          <a:noFill/>
          <a:ln w="12700">
            <a:solidFill>
              <a:srgbClr val="2840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960120"/>
            <a:ext cx="91440" cy="91440"/>
          </a:xfrm>
          <a:prstGeom prst="ellipse">
            <a:avLst/>
          </a:prstGeom>
          <a:solidFill>
            <a:srgbClr val="29B6E8"/>
          </a:solidFill>
          <a:ln/>
        </p:spPr>
      </p:sp>
      <p:sp>
        <p:nvSpPr>
          <p:cNvPr id="11" name="Shape 9"/>
          <p:cNvSpPr/>
          <p:nvPr/>
        </p:nvSpPr>
        <p:spPr>
          <a:xfrm>
            <a:off x="11750040" y="960120"/>
            <a:ext cx="91440" cy="91440"/>
          </a:xfrm>
          <a:prstGeom prst="ellipse">
            <a:avLst/>
          </a:prstGeom>
          <a:solidFill>
            <a:srgbClr val="29B6E8"/>
          </a:solidFill>
          <a:ln/>
        </p:spPr>
      </p:sp>
      <p:sp>
        <p:nvSpPr>
          <p:cNvPr id="12" name="Shape 10"/>
          <p:cNvSpPr/>
          <p:nvPr/>
        </p:nvSpPr>
        <p:spPr>
          <a:xfrm>
            <a:off x="8275320" y="2514600"/>
            <a:ext cx="3520440" cy="0"/>
          </a:xfrm>
          <a:prstGeom prst="line">
            <a:avLst/>
          </a:prstGeom>
          <a:noFill/>
          <a:ln w="12700">
            <a:solidFill>
              <a:srgbClr val="2840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2468880"/>
            <a:ext cx="91440" cy="91440"/>
          </a:xfrm>
          <a:prstGeom prst="ellipse">
            <a:avLst/>
          </a:prstGeom>
          <a:solidFill>
            <a:srgbClr val="29B6E8"/>
          </a:solidFill>
          <a:ln/>
        </p:spPr>
      </p:sp>
      <p:sp>
        <p:nvSpPr>
          <p:cNvPr id="14" name="Shape 12"/>
          <p:cNvSpPr/>
          <p:nvPr/>
        </p:nvSpPr>
        <p:spPr>
          <a:xfrm>
            <a:off x="11750040" y="2468880"/>
            <a:ext cx="91440" cy="91440"/>
          </a:xfrm>
          <a:prstGeom prst="ellipse">
            <a:avLst/>
          </a:prstGeom>
          <a:solidFill>
            <a:srgbClr val="29B6E8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4023360"/>
            <a:ext cx="3520440" cy="0"/>
          </a:xfrm>
          <a:prstGeom prst="line">
            <a:avLst/>
          </a:prstGeom>
          <a:noFill/>
          <a:ln w="12700">
            <a:solidFill>
              <a:srgbClr val="2840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3977640"/>
            <a:ext cx="91440" cy="91440"/>
          </a:xfrm>
          <a:prstGeom prst="ellipse">
            <a:avLst/>
          </a:prstGeom>
          <a:solidFill>
            <a:srgbClr val="29B6E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750040" y="3977640"/>
            <a:ext cx="91440" cy="91440"/>
          </a:xfrm>
          <a:prstGeom prst="ellipse">
            <a:avLst/>
          </a:prstGeom>
          <a:solidFill>
            <a:srgbClr val="29B6E8"/>
          </a:solidFill>
          <a:ln/>
        </p:spPr>
      </p:sp>
      <p:sp>
        <p:nvSpPr>
          <p:cNvPr id="18" name="Shape 16"/>
          <p:cNvSpPr/>
          <p:nvPr/>
        </p:nvSpPr>
        <p:spPr>
          <a:xfrm>
            <a:off x="8275320" y="5532120"/>
            <a:ext cx="3520440" cy="0"/>
          </a:xfrm>
          <a:prstGeom prst="line">
            <a:avLst/>
          </a:prstGeom>
          <a:noFill/>
          <a:ln w="12700">
            <a:solidFill>
              <a:srgbClr val="284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5486400"/>
            <a:ext cx="91440" cy="91440"/>
          </a:xfrm>
          <a:prstGeom prst="ellipse">
            <a:avLst/>
          </a:prstGeom>
          <a:solidFill>
            <a:srgbClr val="29B6E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750040" y="5486400"/>
            <a:ext cx="91440" cy="91440"/>
          </a:xfrm>
          <a:prstGeom prst="ellipse">
            <a:avLst/>
          </a:prstGeom>
          <a:solidFill>
            <a:srgbClr val="29B6E8"/>
          </a:solidFill>
          <a:ln/>
        </p:spPr>
      </p:sp>
      <p:sp>
        <p:nvSpPr>
          <p:cNvPr id="21" name="Shape 19"/>
          <p:cNvSpPr/>
          <p:nvPr/>
        </p:nvSpPr>
        <p:spPr>
          <a:xfrm>
            <a:off x="9052560" y="2468880"/>
            <a:ext cx="1920240" cy="1920240"/>
          </a:xfrm>
          <a:prstGeom prst="ellipse">
            <a:avLst/>
          </a:prstGeom>
          <a:solidFill>
            <a:srgbClr val="16294F"/>
          </a:solidFill>
          <a:ln/>
        </p:spPr>
      </p:sp>
      <p:sp>
        <p:nvSpPr>
          <p:cNvPr id="22" name="Shape 20"/>
          <p:cNvSpPr/>
          <p:nvPr/>
        </p:nvSpPr>
        <p:spPr>
          <a:xfrm>
            <a:off x="9509760" y="3063240"/>
            <a:ext cx="1005840" cy="731520"/>
          </a:xfrm>
          <a:prstGeom prst="roundRect">
            <a:avLst>
              <a:gd name="adj" fmla="val 7500"/>
            </a:avLst>
          </a:prstGeom>
          <a:solidFill>
            <a:srgbClr val="29B6E8"/>
          </a:solidFill>
          <a:ln/>
        </p:spPr>
      </p:sp>
      <p:sp>
        <p:nvSpPr>
          <p:cNvPr id="23" name="Shape 21"/>
          <p:cNvSpPr/>
          <p:nvPr/>
        </p:nvSpPr>
        <p:spPr>
          <a:xfrm>
            <a:off x="9646920" y="2862072"/>
            <a:ext cx="64008" cy="201168"/>
          </a:xfrm>
          <a:prstGeom prst="rect">
            <a:avLst/>
          </a:prstGeom>
          <a:solidFill>
            <a:srgbClr val="29B6E8"/>
          </a:solidFill>
          <a:ln/>
        </p:spPr>
      </p:sp>
      <p:sp>
        <p:nvSpPr>
          <p:cNvPr id="24" name="Shape 22"/>
          <p:cNvSpPr/>
          <p:nvPr/>
        </p:nvSpPr>
        <p:spPr>
          <a:xfrm>
            <a:off x="9646920" y="3794760"/>
            <a:ext cx="64008" cy="201168"/>
          </a:xfrm>
          <a:prstGeom prst="rect">
            <a:avLst/>
          </a:prstGeom>
          <a:solidFill>
            <a:srgbClr val="29B6E8"/>
          </a:solidFill>
          <a:ln/>
        </p:spPr>
      </p:sp>
      <p:sp>
        <p:nvSpPr>
          <p:cNvPr id="25" name="Shape 23"/>
          <p:cNvSpPr/>
          <p:nvPr/>
        </p:nvSpPr>
        <p:spPr>
          <a:xfrm>
            <a:off x="9893808" y="2862072"/>
            <a:ext cx="64008" cy="201168"/>
          </a:xfrm>
          <a:prstGeom prst="rect">
            <a:avLst/>
          </a:prstGeom>
          <a:solidFill>
            <a:srgbClr val="29B6E8"/>
          </a:solidFill>
          <a:ln/>
        </p:spPr>
      </p:sp>
      <p:sp>
        <p:nvSpPr>
          <p:cNvPr id="26" name="Shape 24"/>
          <p:cNvSpPr/>
          <p:nvPr/>
        </p:nvSpPr>
        <p:spPr>
          <a:xfrm>
            <a:off x="9893808" y="3794760"/>
            <a:ext cx="64008" cy="201168"/>
          </a:xfrm>
          <a:prstGeom prst="rect">
            <a:avLst/>
          </a:prstGeom>
          <a:solidFill>
            <a:srgbClr val="29B6E8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40696" y="2862072"/>
            <a:ext cx="64008" cy="201168"/>
          </a:xfrm>
          <a:prstGeom prst="rect">
            <a:avLst/>
          </a:prstGeom>
          <a:solidFill>
            <a:srgbClr val="29B6E8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40696" y="3794760"/>
            <a:ext cx="64008" cy="201168"/>
          </a:xfrm>
          <a:prstGeom prst="rect">
            <a:avLst/>
          </a:prstGeom>
          <a:solidFill>
            <a:srgbClr val="29B6E8"/>
          </a:solidFill>
          <a:ln/>
        </p:spPr>
      </p:sp>
      <p:sp>
        <p:nvSpPr>
          <p:cNvPr id="29" name="Shape 27"/>
          <p:cNvSpPr/>
          <p:nvPr/>
        </p:nvSpPr>
        <p:spPr>
          <a:xfrm>
            <a:off x="10387584" y="2862072"/>
            <a:ext cx="64008" cy="201168"/>
          </a:xfrm>
          <a:prstGeom prst="rect">
            <a:avLst/>
          </a:prstGeom>
          <a:solidFill>
            <a:srgbClr val="29B6E8"/>
          </a:solidFill>
          <a:ln/>
        </p:spPr>
      </p:sp>
      <p:sp>
        <p:nvSpPr>
          <p:cNvPr id="30" name="Shape 28"/>
          <p:cNvSpPr/>
          <p:nvPr/>
        </p:nvSpPr>
        <p:spPr>
          <a:xfrm>
            <a:off x="10387584" y="3794760"/>
            <a:ext cx="64008" cy="201168"/>
          </a:xfrm>
          <a:prstGeom prst="rect">
            <a:avLst/>
          </a:prstGeom>
          <a:solidFill>
            <a:srgbClr val="29B6E8"/>
          </a:solidFill>
          <a:ln/>
        </p:spPr>
      </p:sp>
      <p:sp>
        <p:nvSpPr>
          <p:cNvPr id="31" name="Shape 29"/>
          <p:cNvSpPr/>
          <p:nvPr/>
        </p:nvSpPr>
        <p:spPr>
          <a:xfrm>
            <a:off x="9646920" y="3227832"/>
            <a:ext cx="731520" cy="73152"/>
          </a:xfrm>
          <a:prstGeom prst="rect">
            <a:avLst/>
          </a:prstGeom>
          <a:solidFill>
            <a:srgbClr val="0B1830"/>
          </a:solidFill>
          <a:ln/>
        </p:spPr>
      </p:sp>
      <p:sp>
        <p:nvSpPr>
          <p:cNvPr id="32" name="Shape 30"/>
          <p:cNvSpPr/>
          <p:nvPr/>
        </p:nvSpPr>
        <p:spPr>
          <a:xfrm>
            <a:off x="9646920" y="3410712"/>
            <a:ext cx="731520" cy="73152"/>
          </a:xfrm>
          <a:prstGeom prst="rect">
            <a:avLst/>
          </a:prstGeom>
          <a:solidFill>
            <a:srgbClr val="0B1830"/>
          </a:solidFill>
          <a:ln/>
        </p:spPr>
      </p:sp>
      <p:sp>
        <p:nvSpPr>
          <p:cNvPr id="33" name="Shape 31"/>
          <p:cNvSpPr/>
          <p:nvPr/>
        </p:nvSpPr>
        <p:spPr>
          <a:xfrm>
            <a:off x="9646920" y="3593592"/>
            <a:ext cx="731520" cy="73152"/>
          </a:xfrm>
          <a:prstGeom prst="rect">
            <a:avLst/>
          </a:prstGeom>
          <a:solidFill>
            <a:srgbClr val="0B183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Opening the Storage: Memory &amp; the Register File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datapath reads and writes a register file and memory — this module opens both black boxes, then has you replace them with your own implementation.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5400000">
              <a:srgbClr val="6B7A99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21992"/>
            <a:ext cx="493776" cy="493776"/>
          </a:xfrm>
          <a:prstGeom prst="ellipse">
            <a:avLst/>
          </a:prstGeom>
          <a:solidFill>
            <a:srgbClr val="0B18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2219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9397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memory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5973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and data lines, conceptually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89320" y="196596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5400000">
              <a:srgbClr val="6B7A99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2221992"/>
            <a:ext cx="493776" cy="493776"/>
          </a:xfrm>
          <a:prstGeom prst="ellipse">
            <a:avLst/>
          </a:prstGeom>
          <a:solidFill>
            <a:srgbClr val="0B183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22219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209397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 file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245973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reads, one write, per clock cycle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36392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5400000">
              <a:srgbClr val="6B7A99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392424"/>
            <a:ext cx="493776" cy="493776"/>
          </a:xfrm>
          <a:prstGeom prst="ellipse">
            <a:avLst/>
          </a:prstGeom>
          <a:solidFill>
            <a:srgbClr val="0B183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392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2644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&amp; data memory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63016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program and data live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89320" y="3136392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5400000">
              <a:srgbClr val="6B7A99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3392424"/>
            <a:ext cx="493776" cy="493776"/>
          </a:xfrm>
          <a:prstGeom prst="ellipse">
            <a:avLst/>
          </a:prstGeom>
          <a:solidFill>
            <a:srgbClr val="0B183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72200" y="3392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2644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organisation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363016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Words, addresses, and layout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306824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5400000">
              <a:srgbClr val="6B7A99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4562856"/>
            <a:ext cx="493776" cy="493776"/>
          </a:xfrm>
          <a:prstGeom prst="ellipse">
            <a:avLst/>
          </a:prstGeom>
          <a:solidFill>
            <a:srgbClr val="0B183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45628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44348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hierarchy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48006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vs. size vs. cost, and locality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89320" y="4306824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5400000">
              <a:srgbClr val="6B7A99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4562856"/>
            <a:ext cx="493776" cy="493776"/>
          </a:xfrm>
          <a:prstGeom prst="ellipse">
            <a:avLst/>
          </a:prstGeom>
          <a:solidFill>
            <a:srgbClr val="0B183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172200" y="45628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44348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bottleneck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812280" y="48006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memory access limits performance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477256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5400000">
              <a:srgbClr val="6B7A99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" y="5733288"/>
            <a:ext cx="493776" cy="493776"/>
          </a:xfrm>
          <a:prstGeom prst="ellipse">
            <a:avLst/>
          </a:prstGeom>
          <a:solidFill>
            <a:srgbClr val="0B183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31520" y="57332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371600" y="56052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replace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371600" y="597103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your own register file and memory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89320" y="5477256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5400000">
              <a:srgbClr val="6B7A99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72200" y="5733288"/>
            <a:ext cx="493776" cy="493776"/>
          </a:xfrm>
          <a:prstGeom prst="ellipse">
            <a:avLst/>
          </a:prstGeom>
          <a:solidFill>
            <a:srgbClr val="0B183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172200" y="57332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812280" y="56052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storage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812280" y="597103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tests on the built datapath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MEMORY &amp; THE REGISTER FILE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BIG PICTURE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Opening the Storage Black Boxes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datapath reads and writes two kinds of storage: a register file and memory. Before building either, the goal is to understand how they behave from the outside.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0B18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5420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Datapath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instructions;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reads &amp; writes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94760" y="2606040"/>
            <a:ext cx="822960" cy="320040"/>
          </a:xfrm>
          <a:prstGeom prst="rightArrow">
            <a:avLst/>
          </a:prstGeom>
          <a:solidFill>
            <a:srgbClr val="29B6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0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/ writes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94760" y="3291840"/>
            <a:ext cx="822960" cy="320040"/>
          </a:xfrm>
          <a:prstGeom prst="rightArrow">
            <a:avLst/>
          </a:prstGeom>
          <a:solidFill>
            <a:srgbClr val="29B6E8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224028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23591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File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6791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fast, on-chip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297180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3090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34107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addressable storage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09560" y="237744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EAF2FB"/>
          </a:solidFill>
          <a:ln w="15875">
            <a:solidFill>
              <a:srgbClr val="29B6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38160" y="25237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question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2834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these boxes work — and what would it take to build and swap in your own versions?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5262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leads: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 file and memory are provided black boxes today. By the end of the module, you replace them with your own designs and re-run the program through the same CPU.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MEMORY &amp; THE REGISTER FILE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as Addressable Storage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organised as a set of locations, each identified by an address. Reading or writing means naming an address and moving data across dedicated lines.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42032"/>
            <a:ext cx="128016" cy="128016"/>
          </a:xfrm>
          <a:prstGeom prst="ellipse">
            <a:avLst/>
          </a:prstGeom>
          <a:solidFill>
            <a:srgbClr val="29B6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048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lines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1576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the location you want to access — one unique address per storage cell.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410712"/>
            <a:ext cx="128016" cy="128016"/>
          </a:xfrm>
          <a:prstGeom prst="ellipse">
            <a:avLst/>
          </a:prstGeom>
          <a:solidFill>
            <a:srgbClr val="29B6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27355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8444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the value itself, flowing in on a write and out on a read.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279392"/>
            <a:ext cx="128016" cy="128016"/>
          </a:xfrm>
          <a:prstGeom prst="ellipse">
            <a:avLst/>
          </a:prstGeom>
          <a:solidFill>
            <a:srgbClr val="29B6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1422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model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45312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memory as a giant array: index in with an address, get a value out.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06640" y="2286000"/>
            <a:ext cx="3840480" cy="3520440"/>
          </a:xfrm>
          <a:prstGeom prst="roundRect">
            <a:avLst>
              <a:gd name="adj" fmla="val 2597"/>
            </a:avLst>
          </a:prstGeom>
          <a:solidFill>
            <a:srgbClr val="0B183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06640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 →  MEMORY  → 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63840" y="2971800"/>
            <a:ext cx="2926080" cy="384048"/>
          </a:xfrm>
          <a:prstGeom prst="rect">
            <a:avLst/>
          </a:prstGeom>
          <a:solidFill>
            <a:srgbClr val="1D2E5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09560" y="29718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2971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63840" y="3429000"/>
            <a:ext cx="2926080" cy="384048"/>
          </a:xfrm>
          <a:prstGeom prst="rect">
            <a:avLst/>
          </a:prstGeom>
          <a:solidFill>
            <a:srgbClr val="1D2E5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09560" y="34290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0x01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3429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863840" y="3886200"/>
            <a:ext cx="2926080" cy="384048"/>
          </a:xfrm>
          <a:prstGeom prst="rect">
            <a:avLst/>
          </a:prstGeom>
          <a:solidFill>
            <a:srgbClr val="29B6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09560" y="38862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0x02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595360" y="3886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B1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863840" y="4343400"/>
            <a:ext cx="2926080" cy="384048"/>
          </a:xfrm>
          <a:prstGeom prst="rect">
            <a:avLst/>
          </a:prstGeom>
          <a:solidFill>
            <a:srgbClr val="1D2E5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909560" y="43434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0x03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595360" y="43434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863840" y="4800600"/>
            <a:ext cx="2926080" cy="384048"/>
          </a:xfrm>
          <a:prstGeom prst="rect">
            <a:avLst/>
          </a:prstGeom>
          <a:solidFill>
            <a:srgbClr val="1D2E5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09560" y="48006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0x04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595360" y="48006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863840" y="5257800"/>
            <a:ext cx="2926080" cy="384048"/>
          </a:xfrm>
          <a:prstGeom prst="rect">
            <a:avLst/>
          </a:prstGeom>
          <a:solidFill>
            <a:srgbClr val="1D2E5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909560" y="52578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1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0x05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595360" y="5257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8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MEMORY &amp; THE REGISTER FILE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Register File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CPU's small, fast register set. Each clock cycle, the datapath can read two registers and write one — and addressing is what selects which registers are involved.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48840"/>
            <a:ext cx="3429000" cy="91440"/>
          </a:xfrm>
          <a:prstGeom prst="rect">
            <a:avLst/>
          </a:prstGeom>
          <a:solidFill>
            <a:srgbClr val="1629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423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port 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34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read address selects a register; its value appears on output 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214884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2148840"/>
            <a:ext cx="3429000" cy="91440"/>
          </a:xfrm>
          <a:prstGeom prst="rect">
            <a:avLst/>
          </a:prstGeom>
          <a:solidFill>
            <a:srgbClr val="1629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80560" y="2423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port B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834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independent read address selects a register for output B.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0" y="2148840"/>
            <a:ext cx="34290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2148840"/>
            <a:ext cx="3429000" cy="91440"/>
          </a:xfrm>
          <a:prstGeom prst="rect">
            <a:avLst/>
          </a:prstGeom>
          <a:solidFill>
            <a:srgbClr val="0E6FA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2423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port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2834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clock edge, one write address and a data value update a register.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977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reads, one write — every clock cycle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109728" cy="109728"/>
          </a:xfrm>
          <a:prstGeom prst="ellipse">
            <a:avLst/>
          </a:prstGeom>
          <a:solidFill>
            <a:srgbClr val="29B6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" y="43434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selects a register: a 5-bit address picks 1 of 32 registers, for example.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09728" cy="109728"/>
          </a:xfrm>
          <a:prstGeom prst="ellipse">
            <a:avLst/>
          </a:prstGeom>
          <a:solidFill>
            <a:srgbClr val="29B6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48006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Decoders and multiplexers do the selecting — in this module they're provided black boxes, used but not yet built.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109728" cy="109728"/>
          </a:xfrm>
          <a:prstGeom prst="ellipse">
            <a:avLst/>
          </a:prstGeom>
          <a:solidFill>
            <a:srgbClr val="29B6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4672" y="52578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reads are combinational and the write is clocked, a register can be read and written in the same cycle safely.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MEMORY &amp; THE REGISTER FILE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 Memory &amp; Data Memory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memories, two jobs: one holds the program, the other holds the data the program works on. Both are read; data memory is also written.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166360" cy="3749040"/>
          </a:xfrm>
          <a:prstGeom prst="roundRect">
            <a:avLst>
              <a:gd name="adj" fmla="val 2439"/>
            </a:avLst>
          </a:prstGeom>
          <a:solidFill>
            <a:srgbClr val="0B18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Memory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Holds the program itself — the sequence of instructions to execute.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datapath fetches an instruction using the program counter as the address.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976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Read-only from the datapath's point of view during normal execution.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89320" y="2103120"/>
            <a:ext cx="516636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23774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Memory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9260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Holds the data the program manipulates, separate from the program itself.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6118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Loads read a value out; stores write a value in, at an address the datapath computes.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42976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Both reads and writes happen here as the program runs.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MEMORY &amp; THE REGISTER FILE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Organisation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laid out as words at addresses. How it's organised and accessed shapes everything built on top of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304288"/>
            <a:ext cx="411480" cy="411480"/>
          </a:xfrm>
          <a:prstGeom prst="ellipse">
            <a:avLst/>
          </a:prstGeom>
          <a:solidFill>
            <a:srgbClr val="0B18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85292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182112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unit of data memory stores and transfers at once (e.g. 32 bits).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73552" y="210312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2304288"/>
            <a:ext cx="411480" cy="411480"/>
          </a:xfrm>
          <a:prstGeom prst="ellipse">
            <a:avLst/>
          </a:prstGeom>
          <a:solidFill>
            <a:srgbClr val="0B183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85292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182112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index identifying one word's location in memory.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98464" y="210312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2304288"/>
            <a:ext cx="411480" cy="411480"/>
          </a:xfrm>
          <a:prstGeom prst="ellipse">
            <a:avLst/>
          </a:prstGeom>
          <a:solidFill>
            <a:srgbClr val="0B183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99632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99632" y="285292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199632" y="3182112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words are arranged sequentially so each address maps to exactly one word.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723376" y="210312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24544" y="2304288"/>
            <a:ext cx="411480" cy="411480"/>
          </a:xfrm>
          <a:prstGeom prst="ellipse">
            <a:avLst/>
          </a:prstGeom>
          <a:solidFill>
            <a:srgbClr val="0B183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924544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924544" y="285292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924544" y="3182112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using an address to read or write the word stored there.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index into a sequence of words: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434840"/>
            <a:ext cx="868680" cy="640080"/>
          </a:xfrm>
          <a:prstGeom prst="rect">
            <a:avLst/>
          </a:prstGeom>
          <a:solidFill>
            <a:srgbClr val="E7ECF6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511149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472184" y="4434840"/>
            <a:ext cx="868680" cy="640080"/>
          </a:xfrm>
          <a:prstGeom prst="rect">
            <a:avLst/>
          </a:prstGeom>
          <a:solidFill>
            <a:srgbClr val="E7ECF6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472184" y="511149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395728" y="4434840"/>
            <a:ext cx="868680" cy="640080"/>
          </a:xfrm>
          <a:prstGeom prst="rect">
            <a:avLst/>
          </a:prstGeom>
          <a:solidFill>
            <a:srgbClr val="E7ECF6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395728" y="511149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19272" y="4434840"/>
            <a:ext cx="868680" cy="640080"/>
          </a:xfrm>
          <a:prstGeom prst="rect">
            <a:avLst/>
          </a:prstGeom>
          <a:solidFill>
            <a:srgbClr val="29B6E8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319272" y="511149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42816" y="4434840"/>
            <a:ext cx="868680" cy="640080"/>
          </a:xfrm>
          <a:prstGeom prst="rect">
            <a:avLst/>
          </a:prstGeom>
          <a:solidFill>
            <a:srgbClr val="E7ECF6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242816" y="511149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166360" y="4434840"/>
            <a:ext cx="868680" cy="640080"/>
          </a:xfrm>
          <a:prstGeom prst="rect">
            <a:avLst/>
          </a:prstGeom>
          <a:solidFill>
            <a:srgbClr val="E7ECF6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166360" y="511149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89904" y="4434840"/>
            <a:ext cx="868680" cy="640080"/>
          </a:xfrm>
          <a:prstGeom prst="rect">
            <a:avLst/>
          </a:prstGeom>
          <a:solidFill>
            <a:srgbClr val="E7ECF6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89904" y="511149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013448" y="4434840"/>
            <a:ext cx="868680" cy="640080"/>
          </a:xfrm>
          <a:prstGeom prst="rect">
            <a:avLst/>
          </a:prstGeom>
          <a:solidFill>
            <a:srgbClr val="E7ECF6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013448" y="511149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MEMORY &amp; THE REGISTER FILE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FOUNDATIONAL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Memory Hierarchy — and Why It Exists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storage technology is fast, large, and cheap all at once. The hierarchy is the trade-off between speed, size, and cost — made to work through locality.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4632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 (preview):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tend to reuse nearby data and instructions soon after touching them — the reason a small, fast layer near the top can still feel fast most of the time. Cache depth is covered later.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2057400"/>
            <a:ext cx="1463040" cy="713232"/>
          </a:xfrm>
          <a:prstGeom prst="rect">
            <a:avLst/>
          </a:prstGeom>
          <a:solidFill>
            <a:srgbClr val="29B6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03920" y="205740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83880" y="2843784"/>
            <a:ext cx="2103120" cy="713232"/>
          </a:xfrm>
          <a:prstGeom prst="rect">
            <a:avLst/>
          </a:prstGeom>
          <a:solidFill>
            <a:srgbClr val="4FC3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83880" y="2843784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18120" y="3630168"/>
            <a:ext cx="2834640" cy="713232"/>
          </a:xfrm>
          <a:prstGeom prst="rect">
            <a:avLst/>
          </a:prstGeom>
          <a:solidFill>
            <a:srgbClr val="9FD9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18120" y="3630168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memory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52360" y="4416552"/>
            <a:ext cx="3566160" cy="713232"/>
          </a:xfrm>
          <a:prstGeom prst="rect">
            <a:avLst/>
          </a:prstGeom>
          <a:solidFill>
            <a:srgbClr val="D6EEF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52360" y="441655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(disk)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1828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smaller, costlier ↑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52303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slower, larger, cheaper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MEMORY &amp; THE REGISTER FILE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AWARENESS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von Neumann Bottleneck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instructions and data share the same memory and the same path to the CPU, memory access itself can become the limit on how fast a program runs.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6766560" cy="777240"/>
          </a:xfrm>
          <a:prstGeom prst="roundRect">
            <a:avLst>
              <a:gd name="adj" fmla="val 9412"/>
            </a:avLst>
          </a:prstGeom>
          <a:solidFill>
            <a:srgbClr val="16294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06040"/>
            <a:ext cx="73152" cy="777240"/>
          </a:xfrm>
          <a:prstGeom prst="rect">
            <a:avLst/>
          </a:prstGeom>
          <a:solidFill>
            <a:srgbClr val="29B6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71576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shared bus means the CPU often cannot fetch an instruction and move data in the same cycle.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6766560" cy="777240"/>
          </a:xfrm>
          <a:prstGeom prst="roundRect">
            <a:avLst>
              <a:gd name="adj" fmla="val 9412"/>
            </a:avLst>
          </a:prstGeom>
          <a:solidFill>
            <a:srgbClr val="16294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520440"/>
            <a:ext cx="73152" cy="777240"/>
          </a:xfrm>
          <a:prstGeom prst="rect">
            <a:avLst/>
          </a:prstGeom>
          <a:solidFill>
            <a:srgbClr val="29B6E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processor frequently sits idle, waiting on memory to deliver what it asked for.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6766560" cy="777240"/>
          </a:xfrm>
          <a:prstGeom prst="roundRect">
            <a:avLst>
              <a:gd name="adj" fmla="val 9412"/>
            </a:avLst>
          </a:prstGeom>
          <a:solidFill>
            <a:srgbClr val="16294F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4434840"/>
            <a:ext cx="73152" cy="777240"/>
          </a:xfrm>
          <a:prstGeom prst="rect">
            <a:avLst/>
          </a:prstGeom>
          <a:solidFill>
            <a:srgbClr val="29B6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54456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one key reason the memory hierarchy and caching matter so much for real performance.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237744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29B6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0" y="2377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372600" y="2606040"/>
            <a:ext cx="868680" cy="256032"/>
          </a:xfrm>
          <a:prstGeom prst="rightArrow">
            <a:avLst/>
          </a:prstGeom>
          <a:solidFill>
            <a:srgbClr val="29B6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0" y="31272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shared path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0378440" y="237744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16294F"/>
          </a:solidFill>
          <a:ln w="12700">
            <a:solidFill>
              <a:srgbClr val="29B6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378440" y="237744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(instr. + data)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MEMORY &amp; THE REGISTER FILE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Build, Replace, and Verify the Storage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provided register file and memories get replaced with student-built versions, dropped into the CPU, and verified by re-running the program.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0B18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35000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5176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06324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your own register file and memory using provided sequential elements (registers, flip-flops) as the only remaining black boxes.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 rot="5400000">
            <a:off x="3108960" y="3264408"/>
            <a:ext cx="146304" cy="146304"/>
          </a:xfrm>
          <a:prstGeom prst="triangle">
            <a:avLst/>
          </a:prstGeom>
          <a:solidFill>
            <a:srgbClr val="5B6B8C"/>
          </a:solidFill>
          <a:ln/>
        </p:spPr>
      </p:sp>
      <p:sp>
        <p:nvSpPr>
          <p:cNvPr id="10" name="Shape 8"/>
          <p:cNvSpPr/>
          <p:nvPr/>
        </p:nvSpPr>
        <p:spPr>
          <a:xfrm>
            <a:off x="3273552" y="214884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235000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65176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06324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your versions into the CPU in place of the originals, keeping the same interface.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 rot="5400000">
            <a:off x="5833872" y="3264408"/>
            <a:ext cx="146304" cy="146304"/>
          </a:xfrm>
          <a:prstGeom prst="triangle">
            <a:avLst/>
          </a:prstGeom>
          <a:solidFill>
            <a:srgbClr val="5B6B8C"/>
          </a:solidFill>
          <a:ln/>
        </p:spPr>
      </p:sp>
      <p:sp>
        <p:nvSpPr>
          <p:cNvPr id="15" name="Shape 13"/>
          <p:cNvSpPr/>
          <p:nvPr/>
        </p:nvSpPr>
        <p:spPr>
          <a:xfrm>
            <a:off x="5998464" y="214884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0B183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99632" y="235000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199632" y="265176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199632" y="306324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program again through the modified CPU and observe its behaviour.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 rot="5400000">
            <a:off x="8558784" y="3264408"/>
            <a:ext cx="146304" cy="146304"/>
          </a:xfrm>
          <a:prstGeom prst="triangle">
            <a:avLst/>
          </a:prstGeom>
          <a:solidFill>
            <a:srgbClr val="5B6B8C"/>
          </a:solidFill>
          <a:ln/>
        </p:spPr>
      </p:sp>
      <p:sp>
        <p:nvSpPr>
          <p:cNvPr id="20" name="Shape 18"/>
          <p:cNvSpPr/>
          <p:nvPr/>
        </p:nvSpPr>
        <p:spPr>
          <a:xfrm>
            <a:off x="8723376" y="214884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24544" y="235000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924544" y="265176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924544" y="306324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out read/write tests and watch the program's data move through your storage.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MEMORY &amp; THE REGISTER FILE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Remains Boxed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the register file and memory still leaves other black boxes inside the CPU — each one is the subject of a later module.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16294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74320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29B6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7432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Elements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registers and flip-flops inside the storage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246888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16294F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274320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29B6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27432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4747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ALU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9319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arithmetic and logic operations are built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55280" y="246888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16294F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274320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29B6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0" y="27432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4747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9319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 gates underneath everything above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MEMORY &amp; THE REGISTER FILE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2026-10-01T03:38:27Z</dcterms:created>
  <dcterms:modified xsi:type="dcterms:W3CDTF">2026-10-01T03:38:27Z</dcterms:modified>
</cp:coreProperties>
</file>